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 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5.xlsx" 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6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Pre-Shock Base P&amp;L (₹ Cr)</c:v>
                </c:pt>
              </c:strCache>
            </c:strRef>
          </c:tx>
          <c:spPr>
            <a:solidFill>
              <a:srgbClr val="1D4ED8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</c:v>
                </c:pt>
                <c:pt idx="1">
                  <c:v>13.5</c:v>
                </c:pt>
                <c:pt idx="2">
                  <c:v>13.7</c:v>
                </c:pt>
                <c:pt idx="3">
                  <c:v>-5.8</c:v>
                </c:pt>
                <c:pt idx="4">
                  <c:v>-7.2</c:v>
                </c:pt>
                <c:pt idx="5">
                  <c:v>-6.9</c:v>
                </c:pt>
                <c:pt idx="6">
                  <c:v>-24.1</c:v>
                </c:pt>
                <c:pt idx="7">
                  <c:v>-28.9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694-1449-B4C4-88ABA6A321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ATF Shock Hit (₹ Cr)</c:v>
                </c:pt>
              </c:strCache>
            </c:strRef>
          </c:tx>
          <c:spPr>
            <a:solidFill>
              <a:srgbClr val="DC2626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-8.6999999999999993</c:v>
                </c:pt>
                <c:pt idx="1">
                  <c:v>-9.8000000000000007</c:v>
                </c:pt>
                <c:pt idx="2">
                  <c:v>-10.3</c:v>
                </c:pt>
                <c:pt idx="3">
                  <c:v>-3.1</c:v>
                </c:pt>
                <c:pt idx="4">
                  <c:v>-3.8</c:v>
                </c:pt>
                <c:pt idx="5">
                  <c:v>-4.0999999999999996</c:v>
                </c:pt>
                <c:pt idx="6">
                  <c:v>-4</c:v>
                </c:pt>
                <c:pt idx="7">
                  <c:v>-4.5999999999999996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694-1449-B4C4-88ABA6A32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 Load Factor (%)</c:v>
                </c:pt>
              </c:strCache>
            </c:strRef>
          </c:tx>
          <c:spPr>
            <a:solidFill>
              <a:srgbClr val="15803D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84</c:v>
                </c:pt>
                <c:pt idx="1">
                  <c:v>82</c:v>
                </c:pt>
                <c:pt idx="2">
                  <c:v>83</c:v>
                </c:pt>
                <c:pt idx="3">
                  <c:v>62</c:v>
                </c:pt>
                <c:pt idx="4">
                  <c:v>60</c:v>
                </c:pt>
                <c:pt idx="5">
                  <c:v>64</c:v>
                </c:pt>
                <c:pt idx="6">
                  <c:v>56</c:v>
                </c:pt>
                <c:pt idx="7">
                  <c:v>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F4-B649-B3C9-E7CDF9F285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Pre-Shock BLF (%)</c:v>
                </c:pt>
              </c:strCache>
            </c:strRef>
          </c:tx>
          <c:spPr>
            <a:solidFill>
              <a:srgbClr val="1D4ED8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72.599999999999994</c:v>
                </c:pt>
                <c:pt idx="1">
                  <c:v>73.5</c:v>
                </c:pt>
                <c:pt idx="2">
                  <c:v>74.3</c:v>
                </c:pt>
                <c:pt idx="3">
                  <c:v>73.5</c:v>
                </c:pt>
                <c:pt idx="4">
                  <c:v>73.5</c:v>
                </c:pt>
                <c:pt idx="5">
                  <c:v>73.599999999999994</c:v>
                </c:pt>
                <c:pt idx="6">
                  <c:v>108.6</c:v>
                </c:pt>
                <c:pt idx="7">
                  <c:v>108.9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DF4-B649-B3C9-E7CDF9F285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Post-Shock BLF (%)</c:v>
                </c:pt>
              </c:strCache>
            </c:strRef>
          </c:tx>
          <c:spPr>
            <a:solidFill>
              <a:srgbClr val="DC2626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78</c:v>
                </c:pt>
                <c:pt idx="1">
                  <c:v>79</c:v>
                </c:pt>
                <c:pt idx="2">
                  <c:v>79.8</c:v>
                </c:pt>
                <c:pt idx="3">
                  <c:v>79.8</c:v>
                </c:pt>
                <c:pt idx="4">
                  <c:v>79.7</c:v>
                </c:pt>
                <c:pt idx="5">
                  <c:v>79.7</c:v>
                </c:pt>
                <c:pt idx="6">
                  <c:v>116.2</c:v>
                </c:pt>
                <c:pt idx="7">
                  <c:v>116.4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DF4-B649-B3C9-E7CDF9F285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FY25 Shock P&amp;L (₹ Cr)</c:v>
                </c:pt>
              </c:strCache>
            </c:strRef>
          </c:tx>
          <c:spPr>
            <a:solidFill>
              <a:srgbClr val="DC2626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7.1</c:v>
                </c:pt>
                <c:pt idx="1">
                  <c:v>3.7</c:v>
                </c:pt>
                <c:pt idx="2">
                  <c:v>3.4</c:v>
                </c:pt>
                <c:pt idx="3">
                  <c:v>-8.9</c:v>
                </c:pt>
                <c:pt idx="4">
                  <c:v>-11</c:v>
                </c:pt>
                <c:pt idx="5">
                  <c:v>-11</c:v>
                </c:pt>
                <c:pt idx="6">
                  <c:v>-28.1</c:v>
                </c:pt>
                <c:pt idx="7">
                  <c:v>-33.5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75A-5F43-B25C-144B6F89F3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A P&amp;L (₹ Cr)</c:v>
                </c:pt>
              </c:strCache>
            </c:strRef>
          </c:tx>
          <c:spPr>
            <a:solidFill>
              <a:srgbClr val="1D4ED8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R1: IDR-BOM</c:v>
                </c:pt>
                <c:pt idx="1">
                  <c:v>R2: BHO-DEL</c:v>
                </c:pt>
                <c:pt idx="2">
                  <c:v>R3: STV-BLR</c:v>
                </c:pt>
                <c:pt idx="3">
                  <c:v>R4: IXG-BOM</c:v>
                </c:pt>
                <c:pt idx="4">
                  <c:v>R5: JLR-DEL</c:v>
                </c:pt>
                <c:pt idx="5">
                  <c:v>R6: GOP-BOM</c:v>
                </c:pt>
                <c:pt idx="6">
                  <c:v>R7: ISK-BOM</c:v>
                </c:pt>
                <c:pt idx="7">
                  <c:v>R8: KNU-DEL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14.2</c:v>
                </c:pt>
                <c:pt idx="1">
                  <c:v>11.4</c:v>
                </c:pt>
                <c:pt idx="2">
                  <c:v>11.8</c:v>
                </c:pt>
                <c:pt idx="3">
                  <c:v>-6.9</c:v>
                </c:pt>
                <c:pt idx="4">
                  <c:v>-9.1999999999999993</c:v>
                </c:pt>
                <c:pt idx="5">
                  <c:v>-10.6</c:v>
                </c:pt>
                <c:pt idx="6">
                  <c:v>-2.1</c:v>
                </c:pt>
                <c:pt idx="7">
                  <c:v>-2.4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75A-5F43-B25C-144B6F89F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UDAN VGF-Backed Seats (%)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A320 under UDAN
(180 Seats)</c:v>
                </c:pt>
                <c:pt idx="1">
                  <c:v>ATR 72-600 under UDAN
(78 Seats)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22.2</c:v>
                </c:pt>
                <c:pt idx="1">
                  <c:v>51.3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8FF-4743-AC0D-EC6B732064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Unsubsidized Commercial Seats (%)</c:v>
                </c:pt>
              </c:strCache>
            </c:strRef>
          </c:tx>
          <c:spPr>
            <a:solidFill>
              <a:srgbClr val="D97706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A320 under UDAN
(180 Seats)</c:v>
                </c:pt>
                <c:pt idx="1">
                  <c:v>ATR 72-600 under UDAN
(78 Seats)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77.8</c:v>
                </c:pt>
                <c:pt idx="1">
                  <c:v>48.7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8FF-4743-AC0D-EC6B73206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A320 FY25 Shock (₹ Cr)</c:v>
                </c:pt>
              </c:strCache>
            </c:strRef>
          </c:tx>
          <c:spPr>
            <a:solidFill>
              <a:srgbClr val="DC262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R4: IXG-BOM (410km)</c:v>
                </c:pt>
                <c:pt idx="1">
                  <c:v>R5: JLR-DEL (540km)</c:v>
                </c:pt>
                <c:pt idx="2">
                  <c:v>R6: GOP-BOM (620km)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-8.9</c:v>
                </c:pt>
                <c:pt idx="1">
                  <c:v>-11</c:v>
                </c:pt>
                <c:pt idx="2">
                  <c:v>-11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C4-5D45-B292-85E4F33A49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C: ATR 72-600 Only (₹ Cr)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R4: IXG-BOM (410km)</c:v>
                </c:pt>
                <c:pt idx="1">
                  <c:v>R5: JLR-DEL (540km)</c:v>
                </c:pt>
                <c:pt idx="2">
                  <c:v>R6: GOP-BOM (620km)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3.6</c:v>
                </c:pt>
                <c:pt idx="1">
                  <c:v>4.5999999999999996</c:v>
                </c:pt>
                <c:pt idx="2">
                  <c:v>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DC4-5D45-B292-85E4F33A49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Integrated: ATR 72-600 + UDAN (₹ Cr)</c:v>
                </c:pt>
              </c:strCache>
            </c:strRef>
          </c:tx>
          <c:spPr>
            <a:solidFill>
              <a:srgbClr val="1580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R4: IXG-BOM (410km)</c:v>
                </c:pt>
                <c:pt idx="1">
                  <c:v>R5: JLR-DEL (540km)</c:v>
                </c:pt>
                <c:pt idx="2">
                  <c:v>R6: GOP-BOM (620km)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7.8</c:v>
                </c:pt>
                <c:pt idx="1">
                  <c:v>7.6</c:v>
                </c:pt>
                <c:pt idx="2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DC4-5D45-B292-85E4F33A49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EBITDAR (₹ Cr)</c:v>
                </c:pt>
              </c:strCache>
            </c:strRef>
          </c:tx>
          <c:spPr>
            <a:solidFill>
              <a:srgbClr val="15803D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Pre-Shock</c:v>
                </c:pt>
                <c:pt idx="1">
                  <c:v>FY25 Shock</c:v>
                </c:pt>
                <c:pt idx="2">
                  <c:v>Option A</c:v>
                </c:pt>
                <c:pt idx="3">
                  <c:v>Option B</c:v>
                </c:pt>
                <c:pt idx="4">
                  <c:v>Option C</c:v>
                </c:pt>
                <c:pt idx="5">
                  <c:v>Recommended
(A+B+C)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-29.9</c:v>
                </c:pt>
                <c:pt idx="1">
                  <c:v>-78.3</c:v>
                </c:pt>
                <c:pt idx="2">
                  <c:v>6.2</c:v>
                </c:pt>
                <c:pt idx="3">
                  <c:v>-19.8</c:v>
                </c:pt>
                <c:pt idx="4">
                  <c:v>24.5</c:v>
                </c:pt>
                <c:pt idx="5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E8-4041-8D7D-550F585581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termarked_img_703408895034748540.jpg"/>
          <p:cNvPicPr>
            <a:picLocks noChangeAspect="1"/>
          </p:cNvPicPr>
          <p:nvPr/>
        </p:nvPicPr>
        <p:blipFill>
          <a:blip r:embed="rId2"/>
          <a:srcRect l="21970" r="21970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28016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572000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Navigating an ATF Price Shock: Regional Airline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0"/>
            <a:ext cx="45720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CBD5E0"/>
                </a:solidFill>
                <a:latin typeface="Calibri"/>
              </a:rPr>
              <a:t>Route-Level P&amp;L Diagnosis, Breakeven Load Factor Decomposition, and 24-Month Turnaround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5EEAD4"/>
                </a:solidFill>
                <a:latin typeface="Calibri"/>
              </a:rPr>
              <a:t>CFA Club, IIT Indore | PS1 Consulting &amp; Product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EXECUTIVE SUMMARY | SITUATION, DIAGNOSIS &amp; TURNAROUND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Phased Turnaround Swings Network EBITDAR by +₹155.1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Exiting 2 unviable sub-390 km routes, ring-fencing Tier-3 spokes via UDAN, and swapping 4 A320s for ATR 72-600s lowers BLF to 71.1%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1 (1_Exec_Summary_KPIs); IOCL ATF Archives; IndiGo FY25 Results; MoCA UDAN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1 of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73152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011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FY25 ATF SHOCK EBITDAR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49424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-₹78.3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At ₹1,04,927/kl (+22% ATF spike)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2011680"/>
            <a:ext cx="73152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1296" y="2011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STRUCTURAL ROUTE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249424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Calibri"/>
              </a:rPr>
              <a:t>₹72.9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Gross loss on R4-R8 (gauge &amp; rail)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011680"/>
            <a:ext cx="73152" cy="1051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2011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TURNAROUND EBITDAR (YR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249424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Calibri"/>
              </a:rPr>
              <a:t>+₹76.8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+15.2% margin via phased A+B+C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2011680"/>
            <a:ext cx="7315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9136" y="2011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BREAKEVEN LOAD 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249424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Calibri"/>
              </a:rPr>
              <a:t>71.1% BLF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Cut by -15.4 pts vs. 86.5% shock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4360" y="3246120"/>
          <a:ext cx="1100023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Strategic Scenario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Routes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ASK (M)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Load Factor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RASK (₹)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CASK (₹)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Network BLF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Annual EBITDAR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1. Pre-Shock Baseline (@ ₹86,000/kl ATF)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1,001.6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73.2%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4.31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78.3%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-₹29.9 Cr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2. FY25 ATF Shock Status Quo (@ ₹1,04,927/kl)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1,001.6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73.2%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4.31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5.10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DC2626"/>
                          </a:solidFill>
                          <a:latin typeface="Calibri"/>
                        </a:rPr>
                        <a:t>-₹78.3 Cr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3. Standalone Option A (Pruning + Dynamic RM)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746.1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78.4%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5.14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5.06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77.1%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+₹6.2 Cr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4. Standalone Option B (UDAN Expansion on A320)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1,001.6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4.88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82.1%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-₹19.8 Cr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5. Standalone Option C (ATR 72-600 Fleet Swap)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844.7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82.1%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5.02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4.73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77.3%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+₹24.5 Cr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6. RECOMMENDED INTEGRATED PATH (A + B + C)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950.5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83.8%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5.32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4.51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71.1%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+₹76.8 Cr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1: PROBLEM DIAGNOSIS | FUEL-DRIVEN VS. STRUCTURALLY EMBEDDED LOSSES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₹72.9 Cr of Route Losses Are Structural; ₹48.4 Cr Is Fuel Shock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Decomposing route P&amp;L at pre-shock (₹86,000/kl) vs. post-shock (₹1,04,927/kl) ATF isolates true root causes across 3 route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2 (2_Route_PnL_and_BLF); IndiGo Q1 FY25 Release (CASK ₹4.62); SpiceJet Q3 FY25 Report (CASK ₹6.50)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2 of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011680"/>
          <a:ext cx="64008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2011680"/>
            <a:ext cx="4297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0F2537"/>
                </a:solidFill>
                <a:latin typeface="Calibri"/>
              </a:rPr>
              <a:t>THREE ROUTE ARCHETYPES IN OUR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359152"/>
            <a:ext cx="4297680" cy="3703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Cat 1 - Core Feeders (R1-R3: 510-640 km): </a:t>
            </a:r>
            <a:r>
              <a:rPr sz="1200" b="0">
                <a:solidFill>
                  <a:srgbClr val="1E293B"/>
                </a:solidFill>
                <a:latin typeface="Calibri"/>
              </a:rPr>
              <a:t>Generate +₹43.0 Cr pre-shock profit at 82%-84% LF. The +22% ATF spike erodes -₹28.8 Cr (100% Fuel-Driven), leaving them at +₹14.2 Cr.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Cat 2 - Gauge Mismatch (R4-R6: 410-620 km): </a:t>
            </a:r>
            <a:r>
              <a:rPr sz="1200" b="0">
                <a:solidFill>
                  <a:srgbClr val="1E293B"/>
                </a:solidFill>
                <a:latin typeface="Calibri"/>
              </a:rPr>
              <a:t>Flying 180-seat A320s on ~110-pax Tier-3 demand yields 60%-64% LF. Of their -₹30.9 Cr post-shock loss, 64% (-₹19.9 Cr) is structural gauge mismatch.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Cat 3 - Sub-390 km Rail Trap (R7-R8: 320-390 km): </a:t>
            </a:r>
            <a:r>
              <a:rPr sz="1200" b="0">
                <a:solidFill>
                  <a:srgbClr val="1E293B"/>
                </a:solidFill>
                <a:latin typeface="Calibri"/>
              </a:rPr>
              <a:t>High landing/cycle costs push CASK to ₹6.73-₹6.95/ASK while Vande Bharat Express caps fares. Over 86% (-₹53.0 Cr of -₹61.6 Cr) is structural.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Diagnostic Imperative: </a:t>
            </a:r>
            <a:r>
              <a:rPr sz="1200" b="0">
                <a:solidFill>
                  <a:srgbClr val="1E293B"/>
                </a:solidFill>
                <a:latin typeface="Calibri"/>
              </a:rPr>
              <a:t>Across R4-R8, ₹72.9 Cr of gross losses are structurally embedded while ₹48.4 Cr network-wide is fuel-driven. Hedging alone cannot fix gauge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1: PROBLEM DIAGNOSIS | BREAKEVEN LOAD FACTOR (BLF = CASK / YIELD)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Routes R7 &amp; R8 Require &gt;116% Load Factor Just to Break 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Comparing Actual Load Factor against Pre-Shock and Post-Shock BLF separates temporarily depressed routes from impossible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2 (2_Route_PnL_and_BLF); DGCA Domestic Route Load Factors (https://dgca.gov.in/digigov-portal/)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3 of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011680"/>
          <a:ext cx="64008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2011680"/>
          <a:ext cx="427939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Actual LF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Shock BLF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Verdict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R1 (510km)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84.0%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78.0%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Retain &amp; Reprice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R2 (600km)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82.0%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79.0%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Retain &amp; Reprice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R3 (640km)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79.8%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Retain &amp; Reprice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R4 (410km)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62.0%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79.8%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ATR72 + UDAN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R5 (540km)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ATR72 + UDAN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R6 (620km)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64.0%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ATR72 + UDAN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R7 (320km)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116.2%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EXIT MONTH 1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R8 (390km)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58.0%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116.4%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EXIT MONTH 1</a:t>
                      </a:r>
                    </a:p>
                  </a:txBody>
                  <a:tcPr marL="36576" marR="36576" marT="13716" marB="13716"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1: PROBLEM DIAGNOSIS | SYSTEMS-LEVEL SHOCK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3035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How a +22% ATF Spike Triggers a Spiral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Frequency cuts inflate Ex-Fuel CASK and replicate SpiceJet's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5303520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397763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SpiceJet Q3 FY25 Analysis (CASK ₹6.50/km); IOCL ATF Archives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4 of 10</a:t>
            </a:r>
          </a:p>
        </p:txBody>
      </p:sp>
      <p:pic>
        <p:nvPicPr>
          <p:cNvPr id="8" name="Picture 7" descr="watermarked_img_8028670560992864565.jpg"/>
          <p:cNvPicPr>
            <a:picLocks noChangeAspect="1"/>
          </p:cNvPicPr>
          <p:nvPr/>
        </p:nvPicPr>
        <p:blipFill>
          <a:blip r:embed="rId2"/>
          <a:srcRect t="4798" b="4798"/>
          <a:stretch>
            <a:fillRect/>
          </a:stretch>
        </p:blipFill>
        <p:spPr>
          <a:xfrm>
            <a:off x="6080760" y="0"/>
            <a:ext cx="6110935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2011680"/>
            <a:ext cx="1783080" cy="694944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1. MACRO &amp; TAX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029968"/>
            <a:ext cx="340156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Brent volatility + INR fall + 20-29% State VAT push ATF +22% to ₹1,04,927/kl.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40"/>
            <a:ext cx="1783080" cy="69494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2. UNIT COST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852928"/>
            <a:ext cx="340156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Fuel CASK jumps to ₹2.05/ASK; Network BLF surges from 78.3% to 86.5%.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1783080" cy="69494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3. UTILIZATION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3675887"/>
            <a:ext cx="340156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Ad-hoc cuts on R4-R8 drop aircraft utilization to 8.2 hrs/day (+28% Ex-Fuel CASK).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80560"/>
            <a:ext cx="1783080" cy="694944"/>
          </a:xfrm>
          <a:prstGeom prst="round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4. LIQUIDITY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4498848"/>
            <a:ext cx="340156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Cash burn hits ₹6.5 Cr/mo; carrier delays lease rentals and oil PSU payments.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03520"/>
            <a:ext cx="1783080" cy="694944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5. FLEET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5321808"/>
            <a:ext cx="340156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Lessors enforce 'Cash-and-Carry' groundings; credit downgrades freeze capital.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2: STRATEGIC OPTIONS ASSESSMENT | OPTION A: NETWORK OPTIMIZATION &amp; DYNAMIC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Option A Eliminates ₹61.6 Cr in Losses and Lifts EBITDAR to +₹6.2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Immediate exit of ultra-short routes R7-R8 stops cash bleed, while dynamic fare buckets capture inelastic corporate demand on R1-R3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3 (3_Strategic_Options_ABC - Option A Block); HBS/HBR American Airlines Revenue Management Case (https://www.hbs.edu/faculty/Pages/item.aspx?num=3408)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5 of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011680"/>
          <a:ext cx="6309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78040" y="2011680"/>
            <a:ext cx="43891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0F2537"/>
                </a:solidFill>
                <a:latin typeface="Calibri"/>
              </a:rPr>
              <a:t>QUANTITATIVE MECHANICS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359152"/>
            <a:ext cx="4389120" cy="3703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Immediate Route Pruning (R7 &amp; R8): </a:t>
            </a:r>
            <a:r>
              <a:rPr sz="1200" b="0">
                <a:solidFill>
                  <a:srgbClr val="1E293B"/>
                </a:solidFill>
                <a:latin typeface="Calibri"/>
              </a:rPr>
              <a:t>Exiting Nashik-Mumbai (320 km) and Kanpur-Delhi (390 km) eliminates -₹61.6 Cr in annual operating losses, incurring only -₹4.5 Cr in one-time station closure friction.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Dynamic Yield Management (R1-R3): </a:t>
            </a:r>
            <a:r>
              <a:rPr sz="1200" b="0">
                <a:solidFill>
                  <a:srgbClr val="1E293B"/>
                </a:solidFill>
                <a:latin typeface="Calibri"/>
              </a:rPr>
              <a:t>Raising peak morning/evening corporate fares by +7.5% to +8.0% with price elasticity e = -0.42 to -0.45 trims LF by only -2.5 pts while lifting RASK by +4.6%.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Frequency Consolidation (R4-R6): </a:t>
            </a:r>
            <a:r>
              <a:rPr sz="1200" b="0">
                <a:solidFill>
                  <a:srgbClr val="1E293B"/>
                </a:solidFill>
                <a:latin typeface="Calibri"/>
              </a:rPr>
              <a:t>Cutting Tier-3 frequencies from 2x to 1x daily lifts cabin Load Factor from 60%-64% to 69%-72%, halving route losses.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Why Option A Alone Is Insufficient: </a:t>
            </a:r>
            <a:r>
              <a:rPr sz="1200" b="0">
                <a:solidFill>
                  <a:srgbClr val="1E293B"/>
                </a:solidFill>
                <a:latin typeface="Calibri"/>
              </a:rPr>
              <a:t>Standalone Option A swings network EBITDAR by +₹84.5 Cr (to +₹6.2 Cr, +1.6% margin), but R4-R6 still lose -₹26.7 Cr because a 180-seat A320 is oversized.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2: STRATEGIC OPTIONS ASSESSMENT | OPTION B: RCS-UDAN ROUTE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UDAN Subsidies Cut CASK by 13%, But 40-Seat Cap Traps 180-Seat Jets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MoCA Viability Gap Funding (VGF) and 1% ATF VAT lower unit costs, yet capping fares on 40 seats leaves 140 A320 seats exposed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MoCA Modified UDAN Scheme v1.2 (https://www.civilaviation.gov.in); PIB UDAN Release (₹4,091 Cr VGF across 657 routes)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6 of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011680"/>
          <a:ext cx="6446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UDAN Provision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Statutory Benefit (MoCA / AAI)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Trade-Off on 180s A320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VGF Subsidy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₹4,150-₹4,450/seat (80% MoCA, 20% State)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2626"/>
                          </a:solidFill>
                          <a:latin typeface="Calibri"/>
                        </a:rPr>
                        <a:t>Capped at MAX 40 SEATS/flight (22% of A320)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State VAT on ATF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1%-2% VAT vs. 20%-29% at non-RCS metros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2626"/>
                          </a:solidFill>
                          <a:latin typeface="Calibri"/>
                        </a:rPr>
                        <a:t>Saves ~13% CASK, limited to RCS spoke uplift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Airport Charges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100% waiver on Landing, Parking &amp; RNFC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2626"/>
                          </a:solidFill>
                          <a:latin typeface="Calibri"/>
                        </a:rPr>
                        <a:t>Daytime VFR limits high-frequency turns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3-Yr Exclusivity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Statutory monopoly on RCS route (36 mos)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2626"/>
                          </a:solidFill>
                          <a:latin typeface="Calibri"/>
                        </a:rPr>
                        <a:t>MoCA fare cap (~₹2,750) anchors local yields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Receivables &amp; Cliff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Modified UDAN extended through FY2037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2626"/>
                          </a:solidFill>
                          <a:latin typeface="Calibri"/>
                        </a:rPr>
                        <a:t>180-day State VGF delay + Year-3 VGF cliff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0" y="2011680"/>
          <a:ext cx="4279392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5029200"/>
            <a:ext cx="4279392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0F2537"/>
                </a:solidFill>
                <a:latin typeface="Calibri"/>
              </a:rPr>
              <a:t>KEY INSIGHT: Standalone Option B leaves Network EBITDAR at -₹19.8 Cr because 140 unsubsidized A320 seats go unsold. Pairing UDAN with 78-seat ATR 72-600s covers 51.3% of the cabin with VGF!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2: STRATEGIC OPTIONS ASSESSMENT | OPTION C: FLEET MIX &amp; COST RESTRUCTURING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Right-Sizing Tier-3 Routes to 78-Seat ATR 72-600s Cuts Trip Cost 52%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Swapping 4 leased A320s for regional turboprops lifts Tier-3 Load Factors from 62% to 84% and swings network EBITDAR to +₹24.5 Cr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3 (Option C Block); IndiGo FY25 Annual Report (45 ATRs) &amp; Star Air Fleet Benchmark (https://www.starair.in/Home/ourfleet)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7 of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011680"/>
          <a:ext cx="6309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78040" y="2011680"/>
          <a:ext cx="4416551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(500km Spoke)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A320ceo (180s)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ATR 72-600 (78s)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Block Fuel Burn / Trip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2,450 Litres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1,120 Litres (-54%)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Total Trip Operating Cost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₹4.85 Lakh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₹2.32 Lakh (-52%)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Achievable Load Factor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60%-64% (112 pax)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84%-88% (67 pax)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Route Total CASK (₹/ASK)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₹5.21-₹5.79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₹4.32-₹4.52 (UDAN)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Route Breakeven LF (BLF)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79.7%-79.8%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68.9%-71.4%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PBH Maintenance Savings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Fixed Reserve Heavy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-4.5% Ex-Fuel CASK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3: STRATEGIC RECOMMENDATION | INTEGRATED TURNAROUND PATH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Why Sequenced Hybrid (A -&gt; B -&gt; C) Beats Every Standalone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Combining immediate route pruning with ATR 72-600 gauge right-sizing and selective UDAN delivers +₹76.8 Cr EBITDAR (+15.2% margin)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1 &amp; Tab 3; McKinsey Future of Aviation / Retail Reinvention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8 of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011680"/>
          <a:ext cx="60350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2011680"/>
            <a:ext cx="4663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0F2537"/>
                </a:solidFill>
                <a:latin typeface="Calibri"/>
              </a:rPr>
              <a:t>CONSCIOUS STRATEGIC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59152"/>
            <a:ext cx="4663440" cy="3703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1. Do NOT Compete with Vande Bharat on &lt;390 km Sectors: </a:t>
            </a:r>
            <a:r>
              <a:rPr sz="1200" b="0">
                <a:solidFill>
                  <a:srgbClr val="1E293B"/>
                </a:solidFill>
                <a:latin typeface="Calibri"/>
              </a:rPr>
              <a:t>We permanently exit R7 (ISK-BOM 320 km) and R8 (KNU-DEL 390 km). High cycle costs and &lt;4-hour premium rail caps make BLF &gt;116% structurally unfixable.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2. Do NOT Fly 180-Seat Narrow-Bodies on UDAN Spokes: </a:t>
            </a:r>
            <a:r>
              <a:rPr sz="1200" b="0">
                <a:solidFill>
                  <a:srgbClr val="1E293B"/>
                </a:solidFill>
                <a:latin typeface="Calibri"/>
              </a:rPr>
              <a:t>We reject standalone Option B on A320s. We only enter UDAN on R4-R6 once matched with 78-seat ATR 72-600s where the 40-seat VGF cap covers 51.3% of seats.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3. Accept a -5.1% Gross ASK Reduction for +₹155 Cr Profit: </a:t>
            </a:r>
            <a:r>
              <a:rPr sz="1200" b="0">
                <a:solidFill>
                  <a:srgbClr val="1E293B"/>
                </a:solidFill>
                <a:latin typeface="Calibri"/>
              </a:rPr>
              <a:t>We consciously sacrifice headline seat capacity (from 1,001.6M to 950.5M ASKs) and exit 2 stations to shift from -18.1% distress to +15.2% EBITDAR margin.</a:t>
            </a:r>
          </a:p>
          <a:p>
            <a:pPr>
              <a:spcAft>
                <a:spcPts val="600"/>
              </a:spcAft>
              <a:buChar char="•"/>
            </a:pPr>
            <a:r>
              <a:rPr sz="1200" b="1">
                <a:solidFill>
                  <a:srgbClr val="0F2537"/>
                </a:solidFill>
                <a:latin typeface="Calibri"/>
              </a:rPr>
              <a:t>4. Redeploy Freed A320 Slots to High-Margin Hub Feeders: </a:t>
            </a:r>
            <a:r>
              <a:rPr sz="1200" b="0">
                <a:solidFill>
                  <a:srgbClr val="1E293B"/>
                </a:solidFill>
                <a:latin typeface="Calibri"/>
              </a:rPr>
              <a:t>Slots freed from R7-R8 boost R1-R3 from 4x to 5x daily A320 flights, generating +₹53.4 Cr EBITDAR on core corporate corridors.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3: IMPLEMENTATION ROADMAP | PHASED 24-MONTH EXECUTION &amp; GOVERNANCE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Three-Horizon Execution Plan with Gate-Controlled Financial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Sequencing zero-CapEx cash stabilization (Months 1-3) before damp/dry-lease fleet transition protects liquidity throughout turnaround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1 &amp; Tab 3; IndiGo / SpiceJet Fleet Transition &amp; PBH Leasing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9 of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3547872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3547872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048256"/>
            <a:ext cx="332841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PHASE 1: MONTHS 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328416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Stop Cash Burn &amp; Reprice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70048"/>
            <a:ext cx="3401568" cy="33649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Exit R7 &amp; R8 Immediately: </a:t>
            </a:r>
            <a:r>
              <a:rPr sz="1100" b="0">
                <a:solidFill>
                  <a:srgbClr val="1E293B"/>
                </a:solidFill>
                <a:latin typeface="Calibri"/>
              </a:rPr>
              <a:t>Cease Nashik &amp; Kanpur flights with 30-day DGCA notice; save ₹61.6 Cr/yr gross loss.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Slot Redeployment: </a:t>
            </a:r>
            <a:r>
              <a:rPr sz="1100" b="0">
                <a:solidFill>
                  <a:srgbClr val="1E293B"/>
                </a:solidFill>
                <a:latin typeface="Calibri"/>
              </a:rPr>
              <a:t>Shift freed A320 aircraft to 5x daily frequency on R1 (IDR-BOM), R2 (BHO-DEL), R3 (STV-BLR).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Dynamic RM &amp; Ancillary: </a:t>
            </a:r>
            <a:r>
              <a:rPr sz="1100" b="0">
                <a:solidFill>
                  <a:srgbClr val="1E293B"/>
                </a:solidFill>
                <a:latin typeface="Calibri"/>
              </a:rPr>
              <a:t>Launch +7.5% peak corporate buckets &amp; ₹460/pax baggage/seat unbundling.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Gate 1 KPIs (Month 3): </a:t>
            </a:r>
            <a:r>
              <a:rPr sz="1100" b="0">
                <a:solidFill>
                  <a:srgbClr val="1E293B"/>
                </a:solidFill>
                <a:latin typeface="Calibri"/>
              </a:rPr>
              <a:t>Cash burn flips to +₹1.5 Cr/mo EBITDAR; Network LF &gt;= 78%; BLF &lt;= 77.0%.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011680"/>
            <a:ext cx="3547872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5112" y="2011680"/>
            <a:ext cx="3547872" cy="594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048256"/>
            <a:ext cx="332841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PHASE 2: MONTHS 4-9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67712"/>
            <a:ext cx="3328416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UDAN Shield &amp; Damp 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670048"/>
            <a:ext cx="3401568" cy="33649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Selective UDAN Bidding: </a:t>
            </a:r>
            <a:r>
              <a:rPr sz="1100" b="0">
                <a:solidFill>
                  <a:srgbClr val="1E293B"/>
                </a:solidFill>
                <a:latin typeface="Calibri"/>
              </a:rPr>
              <a:t>Convert R4 (IXG), R5 (JLR), R6 (GOP) to RCS-UDAN for ₹4,450/seat VGF + 1% ATF VAT.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Fuel Tankering Protocol: </a:t>
            </a:r>
            <a:r>
              <a:rPr sz="1100" b="0">
                <a:solidFill>
                  <a:srgbClr val="1E293B"/>
                </a:solidFill>
                <a:latin typeface="Calibri"/>
              </a:rPr>
              <a:t>Uplift maximum safe return fuel at 1% VAT RCS stations to cut network Fuel CASK by 7%.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Induct 2x ATR 72-600s: </a:t>
            </a:r>
            <a:r>
              <a:rPr sz="1100" b="0">
                <a:solidFill>
                  <a:srgbClr val="1E293B"/>
                </a:solidFill>
                <a:latin typeface="Calibri"/>
              </a:rPr>
              <a:t>Introduce initial 78-seat turboprops via 6-month damp lease while training crew.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Gate 2 KPIs (Month 9): </a:t>
            </a:r>
            <a:r>
              <a:rPr sz="1100" b="0">
                <a:solidFill>
                  <a:srgbClr val="1E293B"/>
                </a:solidFill>
                <a:latin typeface="Calibri"/>
              </a:rPr>
              <a:t>Blended Fuel CASK &lt;= ₹1.62/ASK; Tier-3 LF &gt;= 84%; Utilization &gt;= 11.2 hrs/day.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2011680"/>
            <a:ext cx="3547872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5864" y="2011680"/>
            <a:ext cx="3547872" cy="5943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2048256"/>
            <a:ext cx="332841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PHASE 3: MONTHS 10-24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267712"/>
            <a:ext cx="3328416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Dual-Gauge Scale &amp; PBH 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670048"/>
            <a:ext cx="3401568" cy="33649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Complete 4x ATR Dry Lease: </a:t>
            </a:r>
            <a:r>
              <a:rPr sz="1100" b="0">
                <a:solidFill>
                  <a:srgbClr val="1E293B"/>
                </a:solidFill>
                <a:latin typeface="Calibri"/>
              </a:rPr>
              <a:t>Transition R4-R6 fully to dry-leased ATR 72-600s; sub-lease 2 older A320ceos abroad.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PBH Maintenance Reset: </a:t>
            </a:r>
            <a:r>
              <a:rPr sz="1100" b="0">
                <a:solidFill>
                  <a:srgbClr val="1E293B"/>
                </a:solidFill>
                <a:latin typeface="Calibri"/>
              </a:rPr>
              <a:t>Convert engine/component MRO to Power-by-the-Hour contracts (-4.5% Ex-Fuel CASK).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Pre-Sunset Yield Shift: </a:t>
            </a:r>
            <a:r>
              <a:rPr sz="1100" b="0">
                <a:solidFill>
                  <a:srgbClr val="1E293B"/>
                </a:solidFill>
                <a:latin typeface="Calibri"/>
              </a:rPr>
              <a:t>Gradually shift 25% of ATR seats to commercial corporate fares ahead of Year-3 VGF taper.</a:t>
            </a:r>
          </a:p>
          <a:p>
            <a:pPr>
              <a:spcAft>
                <a:spcPts val="600"/>
              </a:spcAft>
              <a:buChar char="•"/>
            </a:pPr>
            <a:r>
              <a:rPr sz="1100" b="1">
                <a:solidFill>
                  <a:srgbClr val="0F2537"/>
                </a:solidFill>
                <a:latin typeface="Calibri"/>
              </a:rPr>
              <a:t>Gate 3 KPIs (Month 24): </a:t>
            </a:r>
            <a:r>
              <a:rPr sz="1100" b="0">
                <a:solidFill>
                  <a:srgbClr val="1E293B"/>
                </a:solidFill>
                <a:latin typeface="Calibri"/>
              </a:rPr>
              <a:t>Annual EBITDAR +₹76.8 Cr (+15.2% margin); Blended CASK ₹4.51; BLF 71.1%.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002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STEP 4: RISK &amp; MITIGATION | TWO-WAY SENSITIVITY MATRIX &amp; STRESS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100023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0F2537"/>
                </a:solidFill>
                <a:latin typeface="Calibri"/>
              </a:rPr>
              <a:t>Network Remains Profitable Up to ₹1,25,000/kl ATF Under Hybrid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023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Calibri"/>
              </a:rPr>
              <a:t>Two-way sensitivity across ATF prices (₹85k-₹125k/kl) vs. Yield shifts (-6% to +6%) plus 3 institutional mitigation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000232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Source: Model Tab 4 (4_Risk_Sensitivity_Matrix); IOCL ATF Archives; MoCA UDAN Escrow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327648"/>
            <a:ext cx="1234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50" b="1">
                <a:solidFill>
                  <a:srgbClr val="0F2537"/>
                </a:solidFill>
                <a:latin typeface="Calibri"/>
              </a:rPr>
              <a:t>Slide 10 of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3492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0F2537"/>
                </a:solidFill>
                <a:latin typeface="Calibri"/>
              </a:rPr>
              <a:t>TWO-WAY SENSITIVITY: ANNUAL EBITDAR (₹ CR)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340864"/>
          <a:ext cx="5349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ATF \ Yield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-6.0%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Base 0%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+3.0%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+6.0%</a:t>
                      </a:r>
                    </a:p>
                  </a:txBody>
                  <a:tcPr marL="36576" marR="36576" marT="13716" marB="13716" anchor="ctr"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₹85,000/kl</a:t>
                      </a:r>
                    </a:p>
                  </a:txBody>
                  <a:tcPr marL="36576" marR="36576" marT="13716" marB="1371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+76.0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+91.2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+106.4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+121.5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+136.7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₹95,000/kl</a:t>
                      </a:r>
                    </a:p>
                  </a:txBody>
                  <a:tcPr marL="36576" marR="36576" marT="13716" marB="1371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+61.2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+76.3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+91.5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+106.7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+121.9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₹1,04,927/kl</a:t>
                      </a:r>
                    </a:p>
                  </a:txBody>
                  <a:tcPr marL="36576" marR="36576" marT="13716" marB="1371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+46.5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+61.6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+76.8</a:t>
                      </a:r>
                    </a:p>
                  </a:txBody>
                  <a:tcPr marL="36576" marR="36576" marT="13716" marB="13716" anchor="ctr"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+92.0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+107.1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₹1,15,000/kl</a:t>
                      </a:r>
                    </a:p>
                  </a:txBody>
                  <a:tcPr marL="36576" marR="36576" marT="13716" marB="1371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+31.5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+46.7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+61.9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+77.0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+92.2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  <a:latin typeface="Calibri"/>
                        </a:rPr>
                        <a:t>₹1,25,000/kl</a:t>
                      </a:r>
                    </a:p>
                  </a:txBody>
                  <a:tcPr marL="36576" marR="36576" marT="13716" marB="1371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+16.7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+31.9</a:t>
                      </a:r>
                    </a:p>
                  </a:txBody>
                  <a:tcPr marL="36576" marR="36576" marT="13716" marB="13716" anchor="ctr"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+47.0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+62.2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+77.4</a:t>
                      </a:r>
                    </a:p>
                  </a:txBody>
                  <a:tcPr marL="36576" marR="36576" marT="13716" marB="13716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4617720"/>
            <a:ext cx="534924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RESILIENCE FINDING: Even if Domestic Metro ATF surges another +19% to ₹1,25,000/kl AND yields slip by -6.0% simultaneously, the restructured dual-gauge network stays EBITDAR-positive (+₹16.7 Cr) because BLF is anchored at 71.1%.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37667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0F2537"/>
                </a:solidFill>
                <a:latin typeface="Calibri"/>
              </a:rPr>
              <a:t>MANDATORY STRESS SCENARIOS &amp; MITIGATION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40864"/>
            <a:ext cx="5376672" cy="3886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150" b="1">
                <a:solidFill>
                  <a:srgbClr val="0F2537"/>
                </a:solidFill>
                <a:latin typeface="Calibri"/>
              </a:rPr>
              <a:t>Risk 1 - Severe Crude ($105/bbl) &amp; FX (₹89/USD) Spike: </a:t>
            </a:r>
            <a:r>
              <a:rPr sz="1150" b="0">
                <a:solidFill>
                  <a:srgbClr val="1E293B"/>
                </a:solidFill>
                <a:latin typeface="Calibri"/>
              </a:rPr>
              <a:t>Trigger: ATF hits ₹1,22,000/kl (-₹24.8 Cr hit). Mitigation: Automatic ₹250/pax fuel surcharge indexation + maximum tankering from 1% VAT UDAN spokes + 40% crack-spread collar recovers +₹19.4 Cr (Post-Mitigation EBITDAR: +₹71.4 Cr).</a:t>
            </a:r>
          </a:p>
          <a:p>
            <a:pPr>
              <a:spcAft>
                <a:spcPts val="600"/>
              </a:spcAft>
              <a:buChar char="•"/>
            </a:pPr>
            <a:r>
              <a:rPr sz="1150" b="1">
                <a:solidFill>
                  <a:srgbClr val="0F2537"/>
                </a:solidFill>
                <a:latin typeface="Calibri"/>
              </a:rPr>
              <a:t>Risk 2 - 180-Day State VGF Delay &amp; Year-3 Subsidy Cliff: </a:t>
            </a:r>
            <a:r>
              <a:rPr sz="1150" b="0">
                <a:solidFill>
                  <a:srgbClr val="1E293B"/>
                </a:solidFill>
                <a:latin typeface="Calibri"/>
              </a:rPr>
              <a:t>Trigger: State 20% VGF reimbursement arrears lock up ₹16.2 Cr. Mitigation: Discount receivables via an AAI/Bank Guarantee escrow facility and shift 25% of ATR seats to commercial corporate fares by Month 18 (+₹13.5 Cr recovery).</a:t>
            </a:r>
          </a:p>
          <a:p>
            <a:pPr>
              <a:spcAft>
                <a:spcPts val="600"/>
              </a:spcAft>
              <a:buChar char="•"/>
            </a:pPr>
            <a:r>
              <a:rPr sz="1150" b="1">
                <a:solidFill>
                  <a:srgbClr val="0F2537"/>
                </a:solidFill>
                <a:latin typeface="Calibri"/>
              </a:rPr>
              <a:t>Risk 3 - 6-Month Delay in ATR 72-600 Dry-Lease Delivery: </a:t>
            </a:r>
            <a:r>
              <a:rPr sz="1150" b="0">
                <a:solidFill>
                  <a:srgbClr val="1E293B"/>
                </a:solidFill>
                <a:latin typeface="Calibri"/>
              </a:rPr>
              <a:t>Trigger: OEM supply chain bottleneck (-₹14.5 Cr hit). Mitigation: Bridge with 2x short-term damp-leased ATRs and cap R4-R6 at 1x daily A320 frequency until turboprop arrival (+₹11.2 Cr recovery).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" y="1874519"/>
            <a:ext cx="146304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60120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Fuel Crisis to Sustainable Regional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93268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  <a:latin typeface="Calibri"/>
              </a:rPr>
              <a:t>Phased Route Rationalization, Selective UDAN Shielding, and ATR 72-600 Fleet Right-Sizing Deliver +₹76.8 Cr EBITDAR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00600"/>
            <a:ext cx="932688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5EEAD4"/>
                </a:solidFill>
                <a:latin typeface="Calibri"/>
              </a:rPr>
              <a:t>CFA Club, IIT Indore - PS1 Strategy Deck &amp; Financial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Shonen Jump</cp:lastModifiedBy>
  <cp:revision>2</cp:revision>
  <dcterms:created xsi:type="dcterms:W3CDTF">2013-01-27T09:14:16Z</dcterms:created>
  <dcterms:modified xsi:type="dcterms:W3CDTF">2026-10-27T13:59:14Z</dcterms:modified>
  <cp:category/>
</cp:coreProperties>
</file>